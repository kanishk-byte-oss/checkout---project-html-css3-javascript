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nva Sans Bold" charset="1" panose="020B0803030501040103"/>
      <p:regular r:id="rId12"/>
    </p:embeddedFont>
    <p:embeddedFont>
      <p:font typeface="Bree Serif" charset="1" panose="0200050304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87813">
            <a:off x="-41799" y="6401375"/>
            <a:ext cx="4312148" cy="4033416"/>
          </a:xfrm>
          <a:custGeom>
            <a:avLst/>
            <a:gdLst/>
            <a:ahLst/>
            <a:cxnLst/>
            <a:rect r="r" b="b" t="t" l="l"/>
            <a:pathLst>
              <a:path h="4033416" w="4312148">
                <a:moveTo>
                  <a:pt x="0" y="0"/>
                </a:moveTo>
                <a:lnTo>
                  <a:pt x="4312148" y="0"/>
                </a:lnTo>
                <a:lnTo>
                  <a:pt x="4312148" y="4033416"/>
                </a:lnTo>
                <a:lnTo>
                  <a:pt x="0" y="403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23967">
            <a:off x="14756778" y="312452"/>
            <a:ext cx="3538257" cy="3285524"/>
          </a:xfrm>
          <a:custGeom>
            <a:avLst/>
            <a:gdLst/>
            <a:ahLst/>
            <a:cxnLst/>
            <a:rect r="r" b="b" t="t" l="l"/>
            <a:pathLst>
              <a:path h="3285524" w="3538257">
                <a:moveTo>
                  <a:pt x="0" y="0"/>
                </a:moveTo>
                <a:lnTo>
                  <a:pt x="3538257" y="0"/>
                </a:lnTo>
                <a:lnTo>
                  <a:pt x="3538257" y="3285525"/>
                </a:lnTo>
                <a:lnTo>
                  <a:pt x="0" y="3285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6169" y="7649306"/>
            <a:ext cx="4592839" cy="4070404"/>
          </a:xfrm>
          <a:custGeom>
            <a:avLst/>
            <a:gdLst/>
            <a:ahLst/>
            <a:cxnLst/>
            <a:rect r="r" b="b" t="t" l="l"/>
            <a:pathLst>
              <a:path h="4070404" w="4592839">
                <a:moveTo>
                  <a:pt x="0" y="0"/>
                </a:moveTo>
                <a:lnTo>
                  <a:pt x="4592839" y="0"/>
                </a:lnTo>
                <a:lnTo>
                  <a:pt x="4592839" y="4070404"/>
                </a:lnTo>
                <a:lnTo>
                  <a:pt x="0" y="4070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52281" y="528972"/>
            <a:ext cx="10045852" cy="3129036"/>
          </a:xfrm>
          <a:custGeom>
            <a:avLst/>
            <a:gdLst/>
            <a:ahLst/>
            <a:cxnLst/>
            <a:rect r="r" b="b" t="t" l="l"/>
            <a:pathLst>
              <a:path h="3129036" w="10045852">
                <a:moveTo>
                  <a:pt x="0" y="0"/>
                </a:moveTo>
                <a:lnTo>
                  <a:pt x="10045851" y="0"/>
                </a:lnTo>
                <a:lnTo>
                  <a:pt x="10045851" y="3129036"/>
                </a:lnTo>
                <a:lnTo>
                  <a:pt x="0" y="31290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0830" y="4199054"/>
            <a:ext cx="16388753" cy="178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State-Base</a:t>
            </a:r>
            <a:r>
              <a:rPr lang="en-US" b="true" sz="50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Step Tracker </a:t>
            </a:r>
          </a:p>
          <a:p>
            <a:pPr algn="ctr">
              <a:lnSpc>
                <a:spcPts val="7125"/>
              </a:lnSpc>
            </a:pPr>
            <a:r>
              <a:rPr lang="en-US" b="true" sz="50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(Multi Step Persistence Engine)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30634" y="6332295"/>
            <a:ext cx="8772409" cy="194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8"/>
              </a:lnSpc>
            </a:pPr>
            <a:r>
              <a:rPr lang="en-US" sz="3712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B.Tech CSE Semester II Project</a:t>
            </a:r>
          </a:p>
          <a:p>
            <a:pPr algn="ctr">
              <a:lnSpc>
                <a:spcPts val="5198"/>
              </a:lnSpc>
            </a:pPr>
            <a:r>
              <a:rPr lang="en-US" sz="3712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By: [Kanishk Singh ]</a:t>
            </a:r>
          </a:p>
          <a:p>
            <a:pPr algn="ctr">
              <a:lnSpc>
                <a:spcPts val="519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446406" y="8480848"/>
            <a:ext cx="6457601" cy="120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4"/>
              </a:lnSpc>
            </a:pPr>
            <a:r>
              <a:rPr lang="en-US" sz="344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Roll NO - 150096725104 /  JEFF BEZOS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2365" y="-129125"/>
            <a:ext cx="5064043" cy="4177835"/>
          </a:xfrm>
          <a:custGeom>
            <a:avLst/>
            <a:gdLst/>
            <a:ahLst/>
            <a:cxnLst/>
            <a:rect r="r" b="b" t="t" l="l"/>
            <a:pathLst>
              <a:path h="4177835" w="5064043">
                <a:moveTo>
                  <a:pt x="0" y="0"/>
                </a:moveTo>
                <a:lnTo>
                  <a:pt x="5064043" y="0"/>
                </a:lnTo>
                <a:lnTo>
                  <a:pt x="5064043" y="4177835"/>
                </a:lnTo>
                <a:lnTo>
                  <a:pt x="0" y="4177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7931" y="2585937"/>
            <a:ext cx="14458870" cy="680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</a:p>
          <a:p>
            <a:pPr algn="ctr" marL="758676" indent="-379338" lvl="1">
              <a:lnSpc>
                <a:spcPts val="4919"/>
              </a:lnSpc>
              <a:buFont typeface="Arial"/>
              <a:buChar char="•"/>
            </a:pPr>
            <a:r>
              <a:rPr lang="en-US" b="true" sz="35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Issue: Traditional web forms lose all entered data and user progress if the page is accidentally refreshed.</a:t>
            </a:r>
          </a:p>
          <a:p>
            <a:pPr algn="ctr">
              <a:lnSpc>
                <a:spcPts val="4919"/>
              </a:lnSpc>
            </a:pPr>
          </a:p>
          <a:p>
            <a:pPr algn="l" marL="758676" indent="-379338" lvl="1">
              <a:lnSpc>
                <a:spcPts val="4919"/>
              </a:lnSpc>
              <a:buFont typeface="Arial"/>
              <a:buChar char="•"/>
            </a:pPr>
            <a:r>
              <a:rPr lang="en-US" b="true" sz="35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Impact: Causes frustrating user experiences, abandoned checkouts, and repetitive data entry.</a:t>
            </a:r>
          </a:p>
          <a:p>
            <a:pPr algn="ctr">
              <a:lnSpc>
                <a:spcPts val="4919"/>
              </a:lnSpc>
            </a:pPr>
          </a:p>
          <a:p>
            <a:pPr algn="l" marL="781162" indent="-390581" lvl="1">
              <a:lnSpc>
                <a:spcPts val="5065"/>
              </a:lnSpc>
              <a:buFont typeface="Arial"/>
              <a:buChar char="•"/>
            </a:pPr>
            <a:r>
              <a:rPr lang="en-US" b="true" sz="36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Goal: Build a front-end system that tracks progress and saves input data without needing a back-end server or database.</a:t>
            </a:r>
          </a:p>
          <a:p>
            <a:pPr algn="ctr">
              <a:lnSpc>
                <a:spcPts val="491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147931" y="534488"/>
            <a:ext cx="11847549" cy="128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5"/>
              </a:lnSpc>
            </a:pPr>
            <a:r>
              <a:rPr lang="en-US" sz="7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. Problem Statement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51865">
            <a:off x="15036356" y="6769952"/>
            <a:ext cx="2885219" cy="3717770"/>
          </a:xfrm>
          <a:custGeom>
            <a:avLst/>
            <a:gdLst/>
            <a:ahLst/>
            <a:cxnLst/>
            <a:rect r="r" b="b" t="t" l="l"/>
            <a:pathLst>
              <a:path h="3717770" w="2885219">
                <a:moveTo>
                  <a:pt x="0" y="0"/>
                </a:moveTo>
                <a:lnTo>
                  <a:pt x="2885220" y="0"/>
                </a:lnTo>
                <a:lnTo>
                  <a:pt x="2885220" y="3717770"/>
                </a:lnTo>
                <a:lnTo>
                  <a:pt x="0" y="3717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533736">
            <a:off x="239217" y="8749115"/>
            <a:ext cx="6513339" cy="6521491"/>
          </a:xfrm>
          <a:custGeom>
            <a:avLst/>
            <a:gdLst/>
            <a:ahLst/>
            <a:cxnLst/>
            <a:rect r="r" b="b" t="t" l="l"/>
            <a:pathLst>
              <a:path h="6521491" w="6513339">
                <a:moveTo>
                  <a:pt x="0" y="0"/>
                </a:moveTo>
                <a:lnTo>
                  <a:pt x="6513339" y="0"/>
                </a:lnTo>
                <a:lnTo>
                  <a:pt x="6513339" y="6521491"/>
                </a:lnTo>
                <a:lnTo>
                  <a:pt x="0" y="652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09862" y="8853996"/>
            <a:ext cx="6352782" cy="4248856"/>
          </a:xfrm>
          <a:custGeom>
            <a:avLst/>
            <a:gdLst/>
            <a:ahLst/>
            <a:cxnLst/>
            <a:rect r="r" b="b" t="t" l="l"/>
            <a:pathLst>
              <a:path h="4248856" w="6352782">
                <a:moveTo>
                  <a:pt x="0" y="0"/>
                </a:moveTo>
                <a:lnTo>
                  <a:pt x="6352782" y="0"/>
                </a:lnTo>
                <a:lnTo>
                  <a:pt x="6352782" y="4248856"/>
                </a:lnTo>
                <a:lnTo>
                  <a:pt x="0" y="42488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84" t="-14283" r="0" b="-1428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97304" y="-3220156"/>
            <a:ext cx="6352782" cy="4248856"/>
          </a:xfrm>
          <a:custGeom>
            <a:avLst/>
            <a:gdLst/>
            <a:ahLst/>
            <a:cxnLst/>
            <a:rect r="r" b="b" t="t" l="l"/>
            <a:pathLst>
              <a:path h="4248856" w="6352782">
                <a:moveTo>
                  <a:pt x="0" y="0"/>
                </a:moveTo>
                <a:lnTo>
                  <a:pt x="6352781" y="0"/>
                </a:lnTo>
                <a:lnTo>
                  <a:pt x="6352781" y="4248856"/>
                </a:lnTo>
                <a:lnTo>
                  <a:pt x="0" y="42488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84" t="-14283" r="0" b="-1428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948" y="-3378377"/>
            <a:ext cx="6352782" cy="4248856"/>
          </a:xfrm>
          <a:custGeom>
            <a:avLst/>
            <a:gdLst/>
            <a:ahLst/>
            <a:cxnLst/>
            <a:rect r="r" b="b" t="t" l="l"/>
            <a:pathLst>
              <a:path h="4248856" w="6352782">
                <a:moveTo>
                  <a:pt x="0" y="0"/>
                </a:moveTo>
                <a:lnTo>
                  <a:pt x="6352782" y="0"/>
                </a:lnTo>
                <a:lnTo>
                  <a:pt x="6352782" y="4248856"/>
                </a:lnTo>
                <a:lnTo>
                  <a:pt x="0" y="42488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84" t="-14283" r="0" b="-1428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62240" y="9072345"/>
            <a:ext cx="5142769" cy="4130520"/>
          </a:xfrm>
          <a:custGeom>
            <a:avLst/>
            <a:gdLst/>
            <a:ahLst/>
            <a:cxnLst/>
            <a:rect r="r" b="b" t="t" l="l"/>
            <a:pathLst>
              <a:path h="4130520" w="5142769">
                <a:moveTo>
                  <a:pt x="0" y="0"/>
                </a:moveTo>
                <a:lnTo>
                  <a:pt x="5142770" y="0"/>
                </a:lnTo>
                <a:lnTo>
                  <a:pt x="5142770" y="4130520"/>
                </a:lnTo>
                <a:lnTo>
                  <a:pt x="0" y="4130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85804" y="-820173"/>
            <a:ext cx="2938717" cy="2938717"/>
          </a:xfrm>
          <a:custGeom>
            <a:avLst/>
            <a:gdLst/>
            <a:ahLst/>
            <a:cxnLst/>
            <a:rect r="r" b="b" t="t" l="l"/>
            <a:pathLst>
              <a:path h="2938717" w="2938717">
                <a:moveTo>
                  <a:pt x="0" y="0"/>
                </a:moveTo>
                <a:lnTo>
                  <a:pt x="2938717" y="0"/>
                </a:lnTo>
                <a:lnTo>
                  <a:pt x="2938717" y="2938717"/>
                </a:lnTo>
                <a:lnTo>
                  <a:pt x="0" y="293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71344" y="3653124"/>
            <a:ext cx="3644911" cy="3475719"/>
          </a:xfrm>
          <a:custGeom>
            <a:avLst/>
            <a:gdLst/>
            <a:ahLst/>
            <a:cxnLst/>
            <a:rect r="r" b="b" t="t" l="l"/>
            <a:pathLst>
              <a:path h="3475719" w="3644911">
                <a:moveTo>
                  <a:pt x="0" y="0"/>
                </a:moveTo>
                <a:lnTo>
                  <a:pt x="3644911" y="0"/>
                </a:lnTo>
                <a:lnTo>
                  <a:pt x="3644911" y="3475720"/>
                </a:lnTo>
                <a:lnTo>
                  <a:pt x="0" y="3475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29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18077" y="3555750"/>
            <a:ext cx="3107450" cy="3342452"/>
          </a:xfrm>
          <a:custGeom>
            <a:avLst/>
            <a:gdLst/>
            <a:ahLst/>
            <a:cxnLst/>
            <a:rect r="r" b="b" t="t" l="l"/>
            <a:pathLst>
              <a:path h="3342452" w="3107450">
                <a:moveTo>
                  <a:pt x="0" y="0"/>
                </a:moveTo>
                <a:lnTo>
                  <a:pt x="3107450" y="0"/>
                </a:lnTo>
                <a:lnTo>
                  <a:pt x="3107450" y="3342452"/>
                </a:lnTo>
                <a:lnTo>
                  <a:pt x="0" y="3342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49" t="-2215" r="-2313" b="-221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651489"/>
            <a:ext cx="3724226" cy="3246714"/>
          </a:xfrm>
          <a:custGeom>
            <a:avLst/>
            <a:gdLst/>
            <a:ahLst/>
            <a:cxnLst/>
            <a:rect r="r" b="b" t="t" l="l"/>
            <a:pathLst>
              <a:path h="3246714" w="3724226">
                <a:moveTo>
                  <a:pt x="0" y="0"/>
                </a:moveTo>
                <a:lnTo>
                  <a:pt x="3724226" y="0"/>
                </a:lnTo>
                <a:lnTo>
                  <a:pt x="3724226" y="3246713"/>
                </a:lnTo>
                <a:lnTo>
                  <a:pt x="0" y="3246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47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89357" y="3653124"/>
            <a:ext cx="3272883" cy="3358149"/>
          </a:xfrm>
          <a:custGeom>
            <a:avLst/>
            <a:gdLst/>
            <a:ahLst/>
            <a:cxnLst/>
            <a:rect r="r" b="b" t="t" l="l"/>
            <a:pathLst>
              <a:path h="3358149" w="3272883">
                <a:moveTo>
                  <a:pt x="0" y="0"/>
                </a:moveTo>
                <a:lnTo>
                  <a:pt x="3272883" y="0"/>
                </a:lnTo>
                <a:lnTo>
                  <a:pt x="3272883" y="3358149"/>
                </a:lnTo>
                <a:lnTo>
                  <a:pt x="0" y="33581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08905" y="4920540"/>
            <a:ext cx="804350" cy="804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A505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86126" y="4920540"/>
            <a:ext cx="823318" cy="82331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A505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24215" y="4990074"/>
            <a:ext cx="801820" cy="80182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A505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1733" y="7904158"/>
            <a:ext cx="13427172" cy="179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523" indent="-370261" lvl="1">
              <a:lnSpc>
                <a:spcPts val="4801"/>
              </a:lnSpc>
              <a:buFont typeface="Arial"/>
              <a:buChar char="•"/>
            </a:pPr>
            <a:r>
              <a:rPr lang="en-US" b="true" sz="34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UI: JavaScript is use</a:t>
            </a:r>
            <a:r>
              <a:rPr lang="en-US" b="true" sz="34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to hide inactive steps and only display the current step, creating a seamless, app-like experience instantly.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1733" y="582510"/>
            <a:ext cx="15220627" cy="413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2"/>
              </a:lnSpc>
            </a:pPr>
          </a:p>
          <a:p>
            <a:pPr algn="ctr" marL="723616" indent="-361808" lvl="1">
              <a:lnSpc>
                <a:spcPts val="4692"/>
              </a:lnSpc>
              <a:buFont typeface="Arial"/>
              <a:buChar char="•"/>
            </a:pPr>
            <a:r>
              <a:rPr lang="en-US" b="true" sz="335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Multi-Step Workflow Concept: I designed a 4-step e-commerce checkout flow (Cart ➔ </a:t>
            </a:r>
            <a:r>
              <a:rPr lang="en-US" b="true" sz="335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 ➔ Payment ➔ Confirmation). Instead of loading 4 separate HTML pages, it's one dynamic page.</a:t>
            </a:r>
          </a:p>
          <a:p>
            <a:pPr algn="ctr">
              <a:lnSpc>
                <a:spcPts val="4692"/>
              </a:lnSpc>
            </a:pPr>
          </a:p>
          <a:p>
            <a:pPr algn="ctr">
              <a:lnSpc>
                <a:spcPts val="4692"/>
              </a:lnSpc>
            </a:pPr>
          </a:p>
          <a:p>
            <a:pPr algn="ctr">
              <a:lnSpc>
                <a:spcPts val="469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21733" y="174421"/>
            <a:ext cx="6186039" cy="85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8"/>
              </a:lnSpc>
            </a:pPr>
            <a:r>
              <a:rPr lang="en-US" sz="498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. YOUR SOLUTION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0619" y="-1492564"/>
            <a:ext cx="5397363" cy="4965574"/>
          </a:xfrm>
          <a:custGeom>
            <a:avLst/>
            <a:gdLst/>
            <a:ahLst/>
            <a:cxnLst/>
            <a:rect r="r" b="b" t="t" l="l"/>
            <a:pathLst>
              <a:path h="4965574" w="5397363">
                <a:moveTo>
                  <a:pt x="0" y="0"/>
                </a:moveTo>
                <a:lnTo>
                  <a:pt x="5397362" y="0"/>
                </a:lnTo>
                <a:lnTo>
                  <a:pt x="5397362" y="4965573"/>
                </a:lnTo>
                <a:lnTo>
                  <a:pt x="0" y="4965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1244" y="6904555"/>
            <a:ext cx="3681036" cy="4145311"/>
          </a:xfrm>
          <a:custGeom>
            <a:avLst/>
            <a:gdLst/>
            <a:ahLst/>
            <a:cxnLst/>
            <a:rect r="r" b="b" t="t" l="l"/>
            <a:pathLst>
              <a:path h="4145311" w="3681036">
                <a:moveTo>
                  <a:pt x="0" y="0"/>
                </a:moveTo>
                <a:lnTo>
                  <a:pt x="3681036" y="0"/>
                </a:lnTo>
                <a:lnTo>
                  <a:pt x="3681036" y="4145311"/>
                </a:lnTo>
                <a:lnTo>
                  <a:pt x="0" y="4145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73623" y="4877435"/>
            <a:ext cx="12157703" cy="2858023"/>
          </a:xfrm>
          <a:custGeom>
            <a:avLst/>
            <a:gdLst/>
            <a:ahLst/>
            <a:cxnLst/>
            <a:rect r="r" b="b" t="t" l="l"/>
            <a:pathLst>
              <a:path h="2858023" w="12157703">
                <a:moveTo>
                  <a:pt x="0" y="0"/>
                </a:moveTo>
                <a:lnTo>
                  <a:pt x="12157703" y="0"/>
                </a:lnTo>
                <a:lnTo>
                  <a:pt x="12157703" y="2858022"/>
                </a:lnTo>
                <a:lnTo>
                  <a:pt x="0" y="2858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87" t="-7116" r="-2737" b="-32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47111" y="7498197"/>
            <a:ext cx="13950628" cy="291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1"/>
              </a:lnSpc>
            </a:pPr>
          </a:p>
          <a:p>
            <a:pPr algn="ctr">
              <a:lnSpc>
                <a:spcPts val="3301"/>
              </a:lnSpc>
            </a:pPr>
          </a:p>
          <a:p>
            <a:pPr algn="ctr">
              <a:lnSpc>
                <a:spcPts val="3301"/>
              </a:lnSpc>
            </a:pPr>
            <a:r>
              <a:rPr lang="en-US" b="true" sz="23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ctr" marL="509171" indent="-254586" lvl="1">
              <a:lnSpc>
                <a:spcPts val="3301"/>
              </a:lnSpc>
              <a:buFont typeface="Arial"/>
              <a:buChar char="•"/>
            </a:pPr>
            <a:r>
              <a:rPr lang="en-US" b="true" sz="23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Restore Lifecycle:   When the page loads (or reloads), a loadStep() function instantly runs.</a:t>
            </a:r>
          </a:p>
          <a:p>
            <a:pPr algn="ctr" marL="1018342" indent="-339447" lvl="2">
              <a:lnSpc>
                <a:spcPts val="3301"/>
              </a:lnSpc>
              <a:buFont typeface="Arial"/>
              <a:buChar char="⚬"/>
            </a:pPr>
            <a:r>
              <a:rPr lang="en-US" b="true" sz="23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retrieves data from localStorage, parses it, and dynamically renders the exact step and inputs the user left off at.</a:t>
            </a:r>
          </a:p>
          <a:p>
            <a:pPr algn="ctr">
              <a:lnSpc>
                <a:spcPts val="330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46924"/>
            <a:ext cx="12258056" cy="103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6"/>
              </a:lnSpc>
            </a:pPr>
            <a:r>
              <a:rPr lang="en-US" sz="60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</a:t>
            </a:r>
            <a:r>
              <a:rPr lang="en-US" b="true" sz="60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Working (Method/Mind map)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10948" y="1672465"/>
            <a:ext cx="11759030" cy="180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2238" indent="-276119" lvl="1">
              <a:lnSpc>
                <a:spcPts val="3580"/>
              </a:lnSpc>
              <a:buFont typeface="Arial"/>
              <a:buChar char="•"/>
            </a:pPr>
            <a:r>
              <a:rPr lang="en-US" b="true" sz="25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Navigation Mo</a:t>
            </a:r>
            <a:r>
              <a:rPr lang="en-US" b="true" sz="25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del: Users progress using "Next" and "Previous" buttons.</a:t>
            </a:r>
          </a:p>
          <a:p>
            <a:pPr algn="ctr">
              <a:lnSpc>
                <a:spcPts val="3580"/>
              </a:lnSpc>
            </a:pPr>
          </a:p>
          <a:p>
            <a:pPr algn="ctr" marL="552238" indent="-276119" lvl="1">
              <a:lnSpc>
                <a:spcPts val="3580"/>
              </a:lnSpc>
              <a:buFont typeface="Arial"/>
              <a:buChar char="•"/>
            </a:pPr>
            <a:r>
              <a:rPr lang="en-US" b="true" sz="25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Strict boundary checks prevent moving past Step 4 or below Step 1.</a:t>
            </a:r>
          </a:p>
          <a:p>
            <a:pPr algn="ctr">
              <a:lnSpc>
                <a:spcPts val="35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3434909"/>
            <a:ext cx="13016935" cy="118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455" indent="-244228" lvl="1">
              <a:lnSpc>
                <a:spcPts val="3167"/>
              </a:lnSpc>
              <a:buFont typeface="Arial"/>
              <a:buChar char="•"/>
            </a:pPr>
            <a:r>
              <a:rPr lang="en-US" b="true" sz="22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State Persistence Logic:</a:t>
            </a:r>
            <a:r>
              <a:rPr lang="en-US" b="true" sz="22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Every time a user types or</a:t>
            </a:r>
            <a:r>
              <a:rPr lang="en-US" b="true" sz="22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clicks "Next", JavaScript saves the currentStep index and form data (using JSON.stringify) directly into the browser's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648712" y="-690709"/>
            <a:ext cx="3589301" cy="3438818"/>
          </a:xfrm>
          <a:custGeom>
            <a:avLst/>
            <a:gdLst/>
            <a:ahLst/>
            <a:cxnLst/>
            <a:rect r="r" b="b" t="t" l="l"/>
            <a:pathLst>
              <a:path h="3438818" w="3589301">
                <a:moveTo>
                  <a:pt x="0" y="0"/>
                </a:moveTo>
                <a:lnTo>
                  <a:pt x="3589301" y="0"/>
                </a:lnTo>
                <a:lnTo>
                  <a:pt x="3589301" y="3438818"/>
                </a:lnTo>
                <a:lnTo>
                  <a:pt x="0" y="3438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788" y="1596772"/>
            <a:ext cx="16186859" cy="744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1"/>
              </a:lnSpc>
            </a:pPr>
          </a:p>
          <a:p>
            <a:pPr algn="ctr" marL="758948" indent="-379474" lvl="1">
              <a:lnSpc>
                <a:spcPts val="4921"/>
              </a:lnSpc>
              <a:buFont typeface="Arial"/>
              <a:buChar char="•"/>
            </a:pPr>
            <a:r>
              <a:rPr lang="en-US" b="true" sz="35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 </a:t>
            </a:r>
            <a:r>
              <a:rPr lang="en-US" b="true" sz="35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Achieved: Successfully built a state-persistent workflow using  JavaScript, HTML5, and CSS3.</a:t>
            </a:r>
          </a:p>
          <a:p>
            <a:pPr algn="ctr">
              <a:lnSpc>
                <a:spcPts val="4921"/>
              </a:lnSpc>
            </a:pPr>
          </a:p>
          <a:p>
            <a:pPr algn="ctr" marL="758948" indent="-379474" lvl="1">
              <a:lnSpc>
                <a:spcPts val="4921"/>
              </a:lnSpc>
              <a:buFont typeface="Arial"/>
              <a:buChar char="•"/>
            </a:pPr>
            <a:r>
              <a:rPr lang="en-US" b="true" sz="35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Takeaway 1: localStorage is an essential API for seamless user continuity on the front end.</a:t>
            </a:r>
          </a:p>
          <a:p>
            <a:pPr algn="ctr">
              <a:lnSpc>
                <a:spcPts val="4921"/>
              </a:lnSpc>
            </a:pPr>
          </a:p>
          <a:p>
            <a:pPr algn="ctr" marL="758948" indent="-379474" lvl="1">
              <a:lnSpc>
                <a:spcPts val="4921"/>
              </a:lnSpc>
              <a:buFont typeface="Arial"/>
              <a:buChar char="•"/>
            </a:pPr>
            <a:r>
              <a:rPr lang="en-US" b="true" sz="35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Takeaway 2: Isolating state logic from DOM rendering creates clean, maintainable, and bug-free code.</a:t>
            </a:r>
          </a:p>
          <a:p>
            <a:pPr algn="ctr">
              <a:lnSpc>
                <a:spcPts val="4921"/>
              </a:lnSpc>
            </a:pPr>
          </a:p>
          <a:p>
            <a:pPr algn="ctr" marL="758948" indent="-379474" lvl="1">
              <a:lnSpc>
                <a:spcPts val="4921"/>
              </a:lnSpc>
              <a:buFont typeface="Arial"/>
              <a:buChar char="•"/>
            </a:pPr>
            <a:r>
              <a:rPr lang="en-US" b="true" sz="35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 Lightning-fast navigation with zero page reloads required.</a:t>
            </a:r>
          </a:p>
          <a:p>
            <a:pPr algn="ctr">
              <a:lnSpc>
                <a:spcPts val="492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143215" y="428459"/>
            <a:ext cx="8858148" cy="123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0"/>
              </a:lnSpc>
            </a:pPr>
            <a:r>
              <a:rPr lang="en-US" sz="726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</a:t>
            </a:r>
            <a:r>
              <a:rPr lang="en-US" b="true" sz="726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Conclusion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95211" y="8185458"/>
            <a:ext cx="6076851" cy="4121352"/>
          </a:xfrm>
          <a:custGeom>
            <a:avLst/>
            <a:gdLst/>
            <a:ahLst/>
            <a:cxnLst/>
            <a:rect r="r" b="b" t="t" l="l"/>
            <a:pathLst>
              <a:path h="4121352" w="6076851">
                <a:moveTo>
                  <a:pt x="0" y="0"/>
                </a:moveTo>
                <a:lnTo>
                  <a:pt x="6076851" y="0"/>
                </a:lnTo>
                <a:lnTo>
                  <a:pt x="6076851" y="4121352"/>
                </a:lnTo>
                <a:lnTo>
                  <a:pt x="0" y="4121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73784">
            <a:off x="-2207900" y="-617039"/>
            <a:ext cx="7611084" cy="1762266"/>
          </a:xfrm>
          <a:custGeom>
            <a:avLst/>
            <a:gdLst/>
            <a:ahLst/>
            <a:cxnLst/>
            <a:rect r="r" b="b" t="t" l="l"/>
            <a:pathLst>
              <a:path h="1762266" w="7611084">
                <a:moveTo>
                  <a:pt x="0" y="0"/>
                </a:moveTo>
                <a:lnTo>
                  <a:pt x="7611083" y="0"/>
                </a:lnTo>
                <a:lnTo>
                  <a:pt x="7611083" y="1762266"/>
                </a:lnTo>
                <a:lnTo>
                  <a:pt x="0" y="176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67977">
            <a:off x="15881502" y="8485953"/>
            <a:ext cx="4006528" cy="4953975"/>
          </a:xfrm>
          <a:custGeom>
            <a:avLst/>
            <a:gdLst/>
            <a:ahLst/>
            <a:cxnLst/>
            <a:rect r="r" b="b" t="t" l="l"/>
            <a:pathLst>
              <a:path h="4953975" w="4006528">
                <a:moveTo>
                  <a:pt x="0" y="0"/>
                </a:moveTo>
                <a:lnTo>
                  <a:pt x="4006528" y="0"/>
                </a:lnTo>
                <a:lnTo>
                  <a:pt x="4006528" y="4953975"/>
                </a:lnTo>
                <a:lnTo>
                  <a:pt x="0" y="4953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48461" y="3104528"/>
            <a:ext cx="13234872" cy="466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32"/>
              </a:lnSpc>
            </a:pPr>
            <a:r>
              <a:rPr lang="en-US" sz="12404">
                <a:solidFill>
                  <a:srgbClr val="005162"/>
                </a:solidFill>
                <a:latin typeface="Bree Serif"/>
                <a:ea typeface="Bree Serif"/>
                <a:cs typeface="Bree Serif"/>
                <a:sym typeface="Bree Serif"/>
              </a:rPr>
              <a:t>Thank You</a:t>
            </a:r>
          </a:p>
          <a:p>
            <a:pPr algn="ctr" marL="0" indent="0" lvl="0">
              <a:lnSpc>
                <a:spcPts val="12032"/>
              </a:lnSpc>
            </a:pPr>
            <a:r>
              <a:rPr lang="en-US" sz="12404">
                <a:solidFill>
                  <a:srgbClr val="005162"/>
                </a:solidFill>
                <a:latin typeface="Bree Serif"/>
                <a:ea typeface="Bree Serif"/>
                <a:cs typeface="Bree Serif"/>
                <a:sym typeface="Bree Serif"/>
              </a:rPr>
              <a:t>For Reviewing This Project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6387813">
            <a:off x="13322586" y="-248607"/>
            <a:ext cx="4758028" cy="4527920"/>
          </a:xfrm>
          <a:custGeom>
            <a:avLst/>
            <a:gdLst/>
            <a:ahLst/>
            <a:cxnLst/>
            <a:rect r="r" b="b" t="t" l="l"/>
            <a:pathLst>
              <a:path h="4527920" w="4758028">
                <a:moveTo>
                  <a:pt x="0" y="0"/>
                </a:moveTo>
                <a:lnTo>
                  <a:pt x="4758028" y="0"/>
                </a:lnTo>
                <a:lnTo>
                  <a:pt x="4758028" y="4527920"/>
                </a:lnTo>
                <a:lnTo>
                  <a:pt x="0" y="4527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12562" y="7178230"/>
            <a:ext cx="9322443" cy="4160140"/>
          </a:xfrm>
          <a:custGeom>
            <a:avLst/>
            <a:gdLst/>
            <a:ahLst/>
            <a:cxnLst/>
            <a:rect r="r" b="b" t="t" l="l"/>
            <a:pathLst>
              <a:path h="4160140" w="9322443">
                <a:moveTo>
                  <a:pt x="0" y="0"/>
                </a:moveTo>
                <a:lnTo>
                  <a:pt x="9322442" y="0"/>
                </a:lnTo>
                <a:lnTo>
                  <a:pt x="9322442" y="4160140"/>
                </a:lnTo>
                <a:lnTo>
                  <a:pt x="0" y="4160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023967">
            <a:off x="-771908" y="6330965"/>
            <a:ext cx="6387806" cy="4527358"/>
          </a:xfrm>
          <a:custGeom>
            <a:avLst/>
            <a:gdLst/>
            <a:ahLst/>
            <a:cxnLst/>
            <a:rect r="r" b="b" t="t" l="l"/>
            <a:pathLst>
              <a:path h="4527358" w="6387806">
                <a:moveTo>
                  <a:pt x="0" y="0"/>
                </a:moveTo>
                <a:lnTo>
                  <a:pt x="6387806" y="0"/>
                </a:lnTo>
                <a:lnTo>
                  <a:pt x="6387806" y="4527357"/>
                </a:lnTo>
                <a:lnTo>
                  <a:pt x="0" y="4527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11035">
            <a:off x="-5598544" y="-404340"/>
            <a:ext cx="9322443" cy="4160140"/>
          </a:xfrm>
          <a:custGeom>
            <a:avLst/>
            <a:gdLst/>
            <a:ahLst/>
            <a:cxnLst/>
            <a:rect r="r" b="b" t="t" l="l"/>
            <a:pathLst>
              <a:path h="4160140" w="9322443">
                <a:moveTo>
                  <a:pt x="0" y="0"/>
                </a:moveTo>
                <a:lnTo>
                  <a:pt x="9322443" y="0"/>
                </a:lnTo>
                <a:lnTo>
                  <a:pt x="9322443" y="4160140"/>
                </a:lnTo>
                <a:lnTo>
                  <a:pt x="0" y="4160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77249" y="121332"/>
            <a:ext cx="6080804" cy="1894021"/>
          </a:xfrm>
          <a:custGeom>
            <a:avLst/>
            <a:gdLst/>
            <a:ahLst/>
            <a:cxnLst/>
            <a:rect r="r" b="b" t="t" l="l"/>
            <a:pathLst>
              <a:path h="1894021" w="6080804">
                <a:moveTo>
                  <a:pt x="0" y="0"/>
                </a:moveTo>
                <a:lnTo>
                  <a:pt x="6080804" y="0"/>
                </a:lnTo>
                <a:lnTo>
                  <a:pt x="6080804" y="1894021"/>
                </a:lnTo>
                <a:lnTo>
                  <a:pt x="0" y="1894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77249" y="8765725"/>
            <a:ext cx="7947124" cy="8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  <a:spcBef>
                <a:spcPct val="0"/>
              </a:spcBef>
            </a:pPr>
            <a:r>
              <a:rPr lang="en-US" b="true" sz="5089">
                <a:solidFill>
                  <a:srgbClr val="00516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MAde by - KAnishk Singh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DAHD1Cx9uKs</dc:identifier>
  <dcterms:modified xsi:type="dcterms:W3CDTF">2011-08-01T06:04:30Z</dcterms:modified>
  <cp:revision>1</cp:revision>
  <dc:title>Checkout Project of HTML CSS3 JAVASRIPT  PRESENTATION </dc:title>
</cp:coreProperties>
</file>